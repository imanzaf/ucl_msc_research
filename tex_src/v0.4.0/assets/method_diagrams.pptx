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3c31eff954597" /><Relationship Type="http://schemas.openxmlformats.org/officeDocument/2006/relationships/extended-properties" Target="/docProps/app.xml" Id="Rcae6f262bf144395" /><Relationship Type="http://schemas.openxmlformats.org/officeDocument/2006/relationships/officeDocument" Target="/ppt/presentation.xml" Id="R826e11fde9e943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0622aa9154471"/>
  </p:sldMasterIdLst>
  <p:notesMasterIdLst>
    <p:notesMasterId xmlns:r="http://schemas.openxmlformats.org/officeDocument/2006/relationships" r:id="R146d03bc02804a32"/>
  </p:notesMasterIdLst>
  <p:sldIdLst>
    <p:sldId xmlns:r="http://schemas.openxmlformats.org/officeDocument/2006/relationships" id="256" r:id="R78394bb919df487e"/>
    <p:sldId xmlns:r="http://schemas.openxmlformats.org/officeDocument/2006/relationships" id="257" r:id="R34fa9b43588847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d80b293294ec7" /><Relationship Type="http://schemas.openxmlformats.org/officeDocument/2006/relationships/slideMaster" Target="/ppt/slideMasters/slideMaster1.xml" Id="Rf3c0622aa9154471" /><Relationship Type="http://schemas.openxmlformats.org/officeDocument/2006/relationships/notesMaster" Target="/ppt/notesMasters/notesMaster1.xml" Id="R146d03bc02804a32" /><Relationship Type="http://schemas.openxmlformats.org/officeDocument/2006/relationships/presProps" Target="/ppt/presProps.xml" Id="R0e1f2863979f428b" /><Relationship Type="http://schemas.openxmlformats.org/officeDocument/2006/relationships/tableStyles" Target="/ppt/tableStyles.xml" Id="R9a2ec28a4a104755" /><Relationship Type="http://schemas.openxmlformats.org/officeDocument/2006/relationships/slide" Target="/ppt/slides/slide1.xml" Id="R78394bb919df487e" /><Relationship Type="http://schemas.openxmlformats.org/officeDocument/2006/relationships/slide" Target="/ppt/slides/slide2.xml" Id="R34fa9b43588847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7d0810ca784d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c7b568eca4c07" /><Relationship Type="http://schemas.openxmlformats.org/officeDocument/2006/relationships/notesMaster" Target="/ppt/notesMasters/notesMaster1.xml" Id="Ra43164322b384d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b61eac0a834b58" /><Relationship Type="http://schemas.openxmlformats.org/officeDocument/2006/relationships/notesMaster" Target="/ppt/notesMasters/notesMaster1.xml" Id="R7099c88f775d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/Users/iman/Desktop/workspace/ucl_msc_research/data/inputs/scenarios/v4.0.1/accepted_scenarios.jsonl</a:t>
            </a:r>
          </a:p>
          <a:p xmlns:a="http://schemas.openxmlformats.org/drawingml/2006/main">
            <a:r>
              <a:t>- /Users/iman/Desktop/workspace/ucl_msc_research/tex_src/v0.2.1/main.tex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/Users/iman/Desktop/workspace/ucl_msc_research/srcv2/scoring/judges.py</a:t>
            </a:r>
          </a:p>
          <a:p xmlns:a="http://schemas.openxmlformats.org/drawingml/2006/main">
            <a:r>
              <a:t>- /Users/iman/Desktop/workspace/ucl_msc_research/tex_src/v0.2.1/main.tex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067873fcd4f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9d3275caf4358" /><Relationship Type="http://schemas.openxmlformats.org/officeDocument/2006/relationships/slideLayout" Target="/ppt/slideLayouts/slideLayout1.xml" Id="R4eed41a4250841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ed41a4250841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0c61582e3497c" /><Relationship Type="http://schemas.openxmlformats.org/officeDocument/2006/relationships/notesSlide" Target="/ppt/notesSlides/notesSlide1.xml" Id="R1bb19e932b504f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36f444f514ab3" /><Relationship Type="http://schemas.openxmlformats.org/officeDocument/2006/relationships/notesSlide" Target="/ppt/notesSlides/notesSlide2.xml" Id="R7a46823833e048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ucl-accent">
            <a:extLst xmlns:a="http://schemas.openxmlformats.org/drawingml/2006/main">
              <a:ext uri="{FF2B5EF4-FFF2-40B4-BE49-F238E27FC236}">
                <a16:creationId xmlns:a16="http://schemas.microsoft.com/office/drawing/2014/main" id="{FDECD482-69A1-4EBD-AB90-F9928AE4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A6D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A1EE77-F57B-4132-B165-7A7889FB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1A57"/>
                </a:solidFill>
              </a:defRPr>
            </a:pPr>
            <a:r>
              <a:rPr sz="2850" b="1">
                <a:solidFill>
                  <a:srgbClr val="001A57"/>
                </a:solidFill>
              </a:rPr>
              <a:t>Visible facts and hidden labels form each scenario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EF5C361-56A8-4E50-A914-EE5298F3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Each comparison contains two options and six facts arranged as three matched pairs.</a:t>
            </a:r>
          </a:p>
        </p:txBody>
      </p:sp>
      <p:sp>
        <p:nvSpPr>
          <p:cNvPr id="4" name="visible-label">
            <a:extLst xmlns:a="http://schemas.openxmlformats.org/drawingml/2006/main">
              <a:ext uri="{FF2B5EF4-FFF2-40B4-BE49-F238E27FC236}">
                <a16:creationId xmlns:a16="http://schemas.microsoft.com/office/drawing/2014/main" id="{1F541743-3A06-4E00-B4F8-1EE85997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1A57"/>
                </a:solidFill>
              </a:defRPr>
            </a:pPr>
            <a:r>
              <a:rPr sz="1200" b="1">
                <a:solidFill>
                  <a:srgbClr val="001A57"/>
                </a:solidFill>
              </a:rPr>
              <a:t>VISIBLE TO THE EVALUATED MODEL</a:t>
            </a:r>
          </a:p>
        </p:txBody>
      </p:sp>
      <p:sp>
        <p:nvSpPr>
          <p:cNvPr id="5" name="hidden-label">
            <a:extLst xmlns:a="http://schemas.openxmlformats.org/drawingml/2006/main">
              <a:ext uri="{FF2B5EF4-FFF2-40B4-BE49-F238E27FC236}">
                <a16:creationId xmlns:a16="http://schemas.microsoft.com/office/drawing/2014/main" id="{3BE3318C-0EAD-474E-B76F-74536FB0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1FA2"/>
                </a:solidFill>
              </a:defRPr>
            </a:pPr>
            <a:r>
              <a:rPr sz="1200" b="1">
                <a:solidFill>
                  <a:srgbClr val="7B1FA2"/>
                </a:solidFill>
              </a:rPr>
              <a:t>HELD BACK FOR SCORING</a:t>
            </a:r>
          </a:p>
        </p:txBody>
      </p:sp>
      <p:sp>
        <p:nvSpPr>
          <p:cNvPr id="6" name="option-a">
            <a:extLst xmlns:a="http://schemas.openxmlformats.org/drawingml/2006/main">
              <a:ext uri="{FF2B5EF4-FFF2-40B4-BE49-F238E27FC236}">
                <a16:creationId xmlns:a16="http://schemas.microsoft.com/office/drawing/2014/main" id="{2407577F-A7C1-4B73-8911-3A017642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76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1A57"/>
          </a:solidFill>
          <a:ln xmlns:a="http://schemas.openxmlformats.org/drawingml/2006/main" w="11430">
            <a:solidFill>
              <a:srgbClr val="001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7" name="option-b">
            <a:extLst xmlns:a="http://schemas.openxmlformats.org/drawingml/2006/main">
              <a:ext uri="{FF2B5EF4-FFF2-40B4-BE49-F238E27FC236}">
                <a16:creationId xmlns:a16="http://schemas.microsoft.com/office/drawing/2014/main" id="{50026434-501C-47D3-BB35-EA59FCD4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276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1A57"/>
          </a:solidFill>
          <a:ln xmlns:a="http://schemas.openxmlformats.org/drawingml/2006/main" w="11430">
            <a:solidFill>
              <a:srgbClr val="001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8" name="PAIR 1-a">
            <a:extLst xmlns:a="http://schemas.openxmlformats.org/drawingml/2006/main">
              <a:ext uri="{FF2B5EF4-FFF2-40B4-BE49-F238E27FC236}">
                <a16:creationId xmlns:a16="http://schemas.microsoft.com/office/drawing/2014/main" id="{2118EB0A-3CE1-4CA3-9F68-5F0BA18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0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Fact A1</a:t>
            </a:r>
          </a:p>
        </p:txBody>
      </p:sp>
      <p:sp>
        <p:nvSpPr>
          <p:cNvPr id="9" name="PAIR 1-b">
            <a:extLst xmlns:a="http://schemas.openxmlformats.org/drawingml/2006/main">
              <a:ext uri="{FF2B5EF4-FFF2-40B4-BE49-F238E27FC236}">
                <a16:creationId xmlns:a16="http://schemas.microsoft.com/office/drawing/2014/main" id="{33CDAE44-0755-4827-8DE8-DB3EEC25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0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Fact B1</a:t>
            </a:r>
          </a:p>
        </p:txBody>
      </p:sp>
      <p:sp>
        <p:nvSpPr>
          <p:cNvPr id="10" name="PAIR 1-label">
            <a:extLst xmlns:a="http://schemas.openxmlformats.org/drawingml/2006/main">
              <a:ext uri="{FF2B5EF4-FFF2-40B4-BE49-F238E27FC236}">
                <a16:creationId xmlns:a16="http://schemas.microsoft.com/office/drawing/2014/main" id="{C0108EA2-9620-4C3C-A1D0-F224824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895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11430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1A57"/>
                </a:solidFill>
              </a:defRPr>
            </a:pPr>
            <a:r>
              <a:rPr sz="1125" b="1">
                <a:solidFill>
                  <a:srgbClr val="001A57"/>
                </a:solidFill>
              </a:rPr>
              <a:t>PAIR 1</a:t>
            </a:r>
          </a:p>
        </p:txBody>
      </p: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81375" y="29432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D6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91050" y="29432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D6"/>
            </a:solidFill>
            <a:prstDash val="solid"/>
          </a:ln>
        </p:spPr>
      </p:cxnSp>
      <p:sp>
        <p:nvSpPr>
          <p:cNvPr id="13" name="PAIR 2-a">
            <a:extLst xmlns:a="http://schemas.openxmlformats.org/drawingml/2006/main">
              <a:ext uri="{FF2B5EF4-FFF2-40B4-BE49-F238E27FC236}">
                <a16:creationId xmlns:a16="http://schemas.microsoft.com/office/drawing/2014/main" id="{78731F27-8B85-4AEA-9647-6DA76E6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0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Fact A2</a:t>
            </a:r>
          </a:p>
        </p:txBody>
      </p:sp>
      <p:sp>
        <p:nvSpPr>
          <p:cNvPr id="14" name="PAIR 2-b">
            <a:extLst xmlns:a="http://schemas.openxmlformats.org/drawingml/2006/main">
              <a:ext uri="{FF2B5EF4-FFF2-40B4-BE49-F238E27FC236}">
                <a16:creationId xmlns:a16="http://schemas.microsoft.com/office/drawing/2014/main" id="{59C7FDCD-73BD-409B-B131-B28AFF1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24250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0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Fact B2</a:t>
            </a:r>
          </a:p>
        </p:txBody>
      </p:sp>
      <p:sp>
        <p:nvSpPr>
          <p:cNvPr id="15" name="PAIR 2-label">
            <a:extLst xmlns:a="http://schemas.openxmlformats.org/drawingml/2006/main">
              <a:ext uri="{FF2B5EF4-FFF2-40B4-BE49-F238E27FC236}">
                <a16:creationId xmlns:a16="http://schemas.microsoft.com/office/drawing/2014/main" id="{7541583F-06F3-4FF6-83E4-6247AB4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86175"/>
            <a:ext cx="895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11430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1A57"/>
                </a:solidFill>
              </a:defRPr>
            </a:pPr>
            <a:r>
              <a:rPr sz="1125" b="1">
                <a:solidFill>
                  <a:srgbClr val="001A57"/>
                </a:solidFill>
              </a:rPr>
              <a:t>PAIR 2</a:t>
            </a:r>
          </a:p>
        </p:txBody>
      </p: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381375" y="38481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D6"/>
            </a:solidFill>
            <a:prstDash val="solid"/>
          </a:ln>
        </p:spPr>
      </p:cxn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591050" y="38481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D6"/>
            </a:solidFill>
            <a:prstDash val="solid"/>
          </a:ln>
        </p:spPr>
      </p:cxnSp>
      <p:sp>
        <p:nvSpPr>
          <p:cNvPr id="18" name="PAIR 3-a">
            <a:extLst xmlns:a="http://schemas.openxmlformats.org/drawingml/2006/main">
              <a:ext uri="{FF2B5EF4-FFF2-40B4-BE49-F238E27FC236}">
                <a16:creationId xmlns:a16="http://schemas.microsoft.com/office/drawing/2014/main" id="{1AC66C1F-7300-42D1-8AD9-D8A5AED6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0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Fact A3</a:t>
            </a:r>
          </a:p>
        </p:txBody>
      </p:sp>
      <p:sp>
        <p:nvSpPr>
          <p:cNvPr id="19" name="PAIR 3-b">
            <a:extLst xmlns:a="http://schemas.openxmlformats.org/drawingml/2006/main">
              <a:ext uri="{FF2B5EF4-FFF2-40B4-BE49-F238E27FC236}">
                <a16:creationId xmlns:a16="http://schemas.microsoft.com/office/drawing/2014/main" id="{AC478112-2E3A-4991-AEE1-8BE05065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2912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0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Fact B3</a:t>
            </a:r>
          </a:p>
        </p:txBody>
      </p:sp>
      <p:sp>
        <p:nvSpPr>
          <p:cNvPr id="20" name="PAIR 3-label">
            <a:extLst xmlns:a="http://schemas.openxmlformats.org/drawingml/2006/main">
              <a:ext uri="{FF2B5EF4-FFF2-40B4-BE49-F238E27FC236}">
                <a16:creationId xmlns:a16="http://schemas.microsoft.com/office/drawing/2014/main" id="{804D75CE-AE34-4703-BF59-54C3A05A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91050"/>
            <a:ext cx="895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11430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1A57"/>
                </a:solidFill>
              </a:defRPr>
            </a:pPr>
            <a:r>
              <a:rPr sz="1125" b="1">
                <a:solidFill>
                  <a:srgbClr val="001A57"/>
                </a:solidFill>
              </a:rPr>
              <a:t>PAIR 3</a:t>
            </a:r>
          </a:p>
        </p:txBody>
      </p:sp>
      <p:cxnSp>
        <p:nvCxnSpPr>
          <p:cNvPr id="54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81375" y="47529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D6"/>
            </a:solidFill>
            <a:prstDash val="solid"/>
          </a:ln>
        </p:spPr>
      </p:cxnSp>
      <p:cxnSp>
        <p:nvCxnSpPr>
          <p:cNvPr id="55" name=""/>
          <p:cNvCxnSpPr>
            <a:stCxn xmlns:a="http://schemas.openxmlformats.org/drawingml/2006/main" id="2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591050" y="47529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D6"/>
            </a:solidFill>
            <a:prstDash val="solid"/>
          </a:ln>
        </p:spPr>
      </p:cxnSp>
      <p:sp>
        <p:nvSpPr>
          <p:cNvPr id="23" name="hidden-registry">
            <a:extLst xmlns:a="http://schemas.openxmlformats.org/drawingml/2006/main">
              <a:ext uri="{FF2B5EF4-FFF2-40B4-BE49-F238E27FC236}">
                <a16:creationId xmlns:a16="http://schemas.microsoft.com/office/drawing/2014/main" id="{BAC5355D-45A7-4180-A568-2CE85F2A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333375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4EDF8"/>
          </a:solidFill>
          <a:ln xmlns:a="http://schemas.openxmlformats.org/drawingml/2006/main" w="14288">
            <a:solidFill>
              <a:srgbClr val="7B1F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registry-title">
            <a:extLst xmlns:a="http://schemas.openxmlformats.org/drawingml/2006/main">
              <a:ext uri="{FF2B5EF4-FFF2-40B4-BE49-F238E27FC236}">
                <a16:creationId xmlns:a16="http://schemas.microsoft.com/office/drawing/2014/main" id="{82AF749C-764F-4057-9EBD-ECFAC7EA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B1FA2"/>
                </a:solidFill>
              </a:defRPr>
            </a:pPr>
            <a:r>
              <a:rPr sz="1725" b="1">
                <a:solidFill>
                  <a:srgbClr val="7B1FA2"/>
                </a:solidFill>
              </a:rPr>
              <a:t>Evaluation registry</a:t>
            </a:r>
          </a:p>
        </p:txBody>
      </p:sp>
      <p:sp>
        <p:nvSpPr>
          <p:cNvPr id="25" name="hidden-heading-0">
            <a:extLst xmlns:a="http://schemas.openxmlformats.org/drawingml/2006/main">
              <a:ext uri="{FF2B5EF4-FFF2-40B4-BE49-F238E27FC236}">
                <a16:creationId xmlns:a16="http://schemas.microsoft.com/office/drawing/2014/main" id="{B1D8F5C2-7D03-41C0-9CD2-0CBE1F2F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Matched-pair membership</a:t>
            </a:r>
          </a:p>
        </p:txBody>
      </p:sp>
      <p:sp>
        <p:nvSpPr>
          <p:cNvPr id="26" name="hidden-detail-0">
            <a:extLst xmlns:a="http://schemas.openxmlformats.org/drawingml/2006/main">
              <a:ext uri="{FF2B5EF4-FFF2-40B4-BE49-F238E27FC236}">
                <a16:creationId xmlns:a16="http://schemas.microsoft.com/office/drawing/2014/main" id="{96F84B55-CB72-4649-9BA5-0BDECCF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Which two facts form a comparison</a:t>
            </a:r>
          </a:p>
        </p:txBody>
      </p:sp>
      <p:sp>
        <p:nvSpPr>
          <p:cNvPr id="27" name="hidden-heading-1">
            <a:extLst xmlns:a="http://schemas.openxmlformats.org/drawingml/2006/main">
              <a:ext uri="{FF2B5EF4-FFF2-40B4-BE49-F238E27FC236}">
                <a16:creationId xmlns:a16="http://schemas.microsoft.com/office/drawing/2014/main" id="{F1632DE3-AF3B-45D3-8BEF-9C697CF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5277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Customer valence</a:t>
            </a:r>
          </a:p>
        </p:txBody>
      </p:sp>
      <p:sp>
        <p:nvSpPr>
          <p:cNvPr id="28" name="hidden-detail-1">
            <a:extLst xmlns:a="http://schemas.openxmlformats.org/drawingml/2006/main">
              <a:ext uri="{FF2B5EF4-FFF2-40B4-BE49-F238E27FC236}">
                <a16:creationId xmlns:a16="http://schemas.microsoft.com/office/drawing/2014/main" id="{D5EC6402-6F60-4026-9E70-86B1449D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Favourable or adverse</a:t>
            </a:r>
          </a:p>
        </p:txBody>
      </p:sp>
      <p:sp>
        <p:nvSpPr>
          <p:cNvPr id="29" name="hidden-heading-2">
            <a:extLst xmlns:a="http://schemas.openxmlformats.org/drawingml/2006/main">
              <a:ext uri="{FF2B5EF4-FFF2-40B4-BE49-F238E27FC236}">
                <a16:creationId xmlns:a16="http://schemas.microsoft.com/office/drawing/2014/main" id="{76B91E1C-0234-438C-8151-BCB3148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Specificity anchor</a:t>
            </a:r>
          </a:p>
        </p:txBody>
      </p:sp>
      <p:sp>
        <p:nvSpPr>
          <p:cNvPr id="30" name="hidden-detail-2">
            <a:extLst xmlns:a="http://schemas.openxmlformats.org/drawingml/2006/main">
              <a:ext uri="{FF2B5EF4-FFF2-40B4-BE49-F238E27FC236}">
                <a16:creationId xmlns:a16="http://schemas.microsoft.com/office/drawing/2014/main" id="{34214DAD-D529-44D8-9BD1-BA20C588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Number, duration or condition</a:t>
            </a:r>
          </a:p>
        </p:txBody>
      </p:sp>
      <p:sp>
        <p:nvSpPr>
          <p:cNvPr id="31" name="hidden-heading-3">
            <a:extLst xmlns:a="http://schemas.openxmlformats.org/drawingml/2006/main">
              <a:ext uri="{FF2B5EF4-FFF2-40B4-BE49-F238E27FC236}">
                <a16:creationId xmlns:a16="http://schemas.microsoft.com/office/drawing/2014/main" id="{3DE4D579-E88B-4A23-A5A2-1B2A3B34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148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Institutional direction</a:t>
            </a:r>
          </a:p>
        </p:txBody>
      </p:sp>
      <p:sp>
        <p:nvSpPr>
          <p:cNvPr id="32" name="hidden-detail-3">
            <a:extLst xmlns:a="http://schemas.openxmlformats.org/drawingml/2006/main">
              <a:ext uri="{FF2B5EF4-FFF2-40B4-BE49-F238E27FC236}">
                <a16:creationId xmlns:a16="http://schemas.microsoft.com/office/drawing/2014/main" id="{CC914E1D-FC51-44E0-9AC7-CCDB683A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62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Owner-supporting or countervailing</a:t>
            </a:r>
          </a:p>
        </p:txBody>
      </p:sp>
      <p:sp>
        <p:nvSpPr>
          <p:cNvPr id="33" name="scenario-conclusion">
            <a:extLst xmlns:a="http://schemas.openxmlformats.org/drawingml/2006/main">
              <a:ext uri="{FF2B5EF4-FFF2-40B4-BE49-F238E27FC236}">
                <a16:creationId xmlns:a16="http://schemas.microsoft.com/office/drawing/2014/main" id="{8CD2334F-A266-4EE6-B8C1-FC2EC48B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53075"/>
            <a:ext cx="933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1A57"/>
                </a:solidFill>
              </a:defRPr>
            </a:pPr>
            <a:r>
              <a:rPr sz="1575" b="1">
                <a:solidFill>
                  <a:srgbClr val="001A57"/>
                </a:solidFill>
              </a:rPr>
              <a:t>Pairwise balance is scored after generation; the model never sees the research labels.</a:t>
            </a:r>
          </a:p>
        </p:txBody>
      </p:sp>
    </p:spTree>
    <p:extLst>
      <p:ext uri="{BB962C8B-B14F-4D97-AF65-F5344CB8AC3E}">
        <p14:creationId xmlns:p14="http://schemas.microsoft.com/office/powerpoint/2010/main" val="397316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ucl-accent">
            <a:extLst xmlns:a="http://schemas.openxmlformats.org/drawingml/2006/main">
              <a:ext uri="{FF2B5EF4-FFF2-40B4-BE49-F238E27FC236}">
                <a16:creationId xmlns:a16="http://schemas.microsoft.com/office/drawing/2014/main" id="{96B6F992-E75F-49BE-A5D3-8DF939F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A6D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2D6B88-5045-4846-B90A-FE9AD0F1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1A57"/>
                </a:solidFill>
              </a:defRPr>
            </a:pPr>
            <a:r>
              <a:rPr sz="2850" b="1">
                <a:solidFill>
                  <a:srgbClr val="001A57"/>
                </a:solidFill>
              </a:rPr>
              <a:t>Eight judge calls keep the scoring dimensions separate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A33768A-2F9D-4239-858D-3221424B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Hidden institutional direction is joined only after the response content has been extracted.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DDCC6D5D-56C9-4F5A-80F7-F7AD6D5B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1A57"/>
          </a:solidFill>
          <a:ln xmlns:a="http://schemas.openxmlformats.org/drawingml/2006/main" w="11430">
            <a:solidFill>
              <a:srgbClr val="001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Customer-facing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5" name="content-judge">
            <a:extLst xmlns:a="http://schemas.openxmlformats.org/drawingml/2006/main">
              <a:ext uri="{FF2B5EF4-FFF2-40B4-BE49-F238E27FC236}">
                <a16:creationId xmlns:a16="http://schemas.microsoft.com/office/drawing/2014/main" id="{4133D59A-490A-491B-8D85-C5605DF8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04950"/>
            <a:ext cx="25717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11430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1A57"/>
                </a:solidFill>
              </a:defRPr>
            </a:pPr>
            <a:r>
              <a:rPr sz="1500" b="1">
                <a:solidFill>
                  <a:srgbClr val="001A57"/>
                </a:solidFill>
              </a:rPr>
              <a:t>Content judge × 6</a:t>
            </a:r>
          </a:p>
          <a:p xmlns:a="http://schemas.openxmlformats.org/drawingml/2006/main">
            <a:pPr algn="ctr">
              <a:defRPr sz="1500" b="1">
                <a:solidFill>
                  <a:srgbClr val="001A57"/>
                </a:solidFill>
              </a:defRPr>
            </a:pPr>
            <a:r>
              <a:rPr sz="1500" b="1">
                <a:solidFill>
                  <a:srgbClr val="001A57"/>
                </a:solidFill>
              </a:rPr>
              <a:t>One call per fact</a:t>
            </a:r>
          </a:p>
        </p:txBody>
      </p:sp>
      <p:sp>
        <p:nvSpPr>
          <p:cNvPr id="6" name="presentation-judge">
            <a:extLst xmlns:a="http://schemas.openxmlformats.org/drawingml/2006/main">
              <a:ext uri="{FF2B5EF4-FFF2-40B4-BE49-F238E27FC236}">
                <a16:creationId xmlns:a16="http://schemas.microsoft.com/office/drawing/2014/main" id="{3EA2C636-D8AC-4164-8C44-C2FE9BC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76625"/>
            <a:ext cx="25717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4EDF8"/>
          </a:solidFill>
          <a:ln xmlns:a="http://schemas.openxmlformats.org/drawingml/2006/main" w="11430">
            <a:solidFill>
              <a:srgbClr val="7B1F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B1FA2"/>
                </a:solidFill>
              </a:defRPr>
            </a:pPr>
            <a:r>
              <a:rPr sz="1500" b="1">
                <a:solidFill>
                  <a:srgbClr val="7B1FA2"/>
                </a:solidFill>
              </a:rPr>
              <a:t>Presentation judge × 1</a:t>
            </a:r>
          </a:p>
        </p:txBody>
      </p:sp>
      <p:sp>
        <p:nvSpPr>
          <p:cNvPr id="7" name="accuracy-judge">
            <a:extLst xmlns:a="http://schemas.openxmlformats.org/drawingml/2006/main">
              <a:ext uri="{FF2B5EF4-FFF2-40B4-BE49-F238E27FC236}">
                <a16:creationId xmlns:a16="http://schemas.microsoft.com/office/drawing/2014/main" id="{60FCCA61-9EFF-4D62-AC48-3410646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25717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1430">
            <a:solidFill>
              <a:srgbClr val="E85D7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3348"/>
                </a:solidFill>
              </a:defRPr>
            </a:pPr>
            <a:r>
              <a:rPr sz="1500" b="1">
                <a:solidFill>
                  <a:srgbClr val="9A3348"/>
                </a:solidFill>
              </a:rPr>
              <a:t>Accuracy judge × 1</a:t>
            </a:r>
          </a:p>
        </p:txBody>
      </p:sp>
      <p:sp>
        <p:nvSpPr>
          <p:cNvPr id="8" name="content-outputs">
            <a:extLst xmlns:a="http://schemas.openxmlformats.org/drawingml/2006/main">
              <a:ext uri="{FF2B5EF4-FFF2-40B4-BE49-F238E27FC236}">
                <a16:creationId xmlns:a16="http://schemas.microsoft.com/office/drawing/2014/main" id="{086A73D8-5284-4BF8-B337-C97829F2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28750"/>
            <a:ext cx="3905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1A57"/>
                </a:solidFill>
              </a:defRPr>
            </a:pPr>
            <a:r>
              <a:rPr sz="1500" b="1">
                <a:solidFill>
                  <a:srgbClr val="001A57"/>
                </a:solidFill>
              </a:rPr>
              <a:t>fact_present + anchor_present</a:t>
            </a:r>
          </a:p>
          <a:p xmlns:a="http://schemas.openxmlformats.org/drawingml/2006/main">
            <a:pPr algn="ctr">
              <a:defRPr sz="1500" b="1">
                <a:solidFill>
                  <a:srgbClr val="001A57"/>
                </a:solidFill>
              </a:defRPr>
            </a:pPr>
            <a:r>
              <a:rPr sz="1500" b="1">
                <a:solidFill>
                  <a:srgbClr val="001A57"/>
                </a:solidFill>
              </a:rPr>
              <a:t>↓</a:t>
            </a:r>
          </a:p>
          <a:p xmlns:a="http://schemas.openxmlformats.org/drawingml/2006/main">
            <a:pPr algn="ctr">
              <a:defRPr sz="1500" b="1">
                <a:solidFill>
                  <a:srgbClr val="001A57"/>
                </a:solidFill>
              </a:defRPr>
            </a:pPr>
            <a:r>
              <a:rPr sz="1500" b="1">
                <a:solidFill>
                  <a:srgbClr val="001A57"/>
                </a:solidFill>
              </a:rPr>
              <a:t>D, A, T, R and S</a:t>
            </a:r>
          </a:p>
        </p:txBody>
      </p:sp>
      <p:sp>
        <p:nvSpPr>
          <p:cNvPr id="9" name="presentation-outputs">
            <a:extLst xmlns:a="http://schemas.openxmlformats.org/drawingml/2006/main">
              <a:ext uri="{FF2B5EF4-FFF2-40B4-BE49-F238E27FC236}">
                <a16:creationId xmlns:a16="http://schemas.microsoft.com/office/drawing/2014/main" id="{77751DBC-7105-4D60-9CE3-8829842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39052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1F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Framing • recommendation • first option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empathy • referral</a:t>
            </a:r>
          </a:p>
        </p:txBody>
      </p:sp>
      <p:sp>
        <p:nvSpPr>
          <p:cNvPr id="10" name="accuracy-outputs">
            <a:extLst xmlns:a="http://schemas.openxmlformats.org/drawingml/2006/main">
              <a:ext uri="{FF2B5EF4-FFF2-40B4-BE49-F238E27FC236}">
                <a16:creationId xmlns:a16="http://schemas.microsoft.com/office/drawing/2014/main" id="{B6B107D2-46D5-4785-8643-920756F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67250"/>
            <a:ext cx="39052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5D7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Unsupported or contradictory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material claims</a:t>
            </a:r>
          </a:p>
        </p:txBody>
      </p:sp>
      <p:sp>
        <p:nvSpPr>
          <p:cNvPr id="11" name="hidden-labels">
            <a:extLst xmlns:a="http://schemas.openxmlformats.org/drawingml/2006/main">
              <a:ext uri="{FF2B5EF4-FFF2-40B4-BE49-F238E27FC236}">
                <a16:creationId xmlns:a16="http://schemas.microsoft.com/office/drawing/2014/main" id="{F346BCC5-18E9-447E-BF4C-17836472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86050"/>
            <a:ext cx="2286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4EDF8"/>
          </a:solidFill>
          <a:ln xmlns:a="http://schemas.openxmlformats.org/drawingml/2006/main" w="11430">
            <a:solidFill>
              <a:srgbClr val="7B1F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B1FA2"/>
                </a:solidFill>
              </a:defRPr>
            </a:pPr>
            <a:r>
              <a:rPr sz="1275" b="1">
                <a:solidFill>
                  <a:srgbClr val="7B1FA2"/>
                </a:solidFill>
              </a:rPr>
              <a:t>Hidden direction labels</a:t>
            </a:r>
          </a:p>
        </p:txBody>
      </p:sp>
      <p:sp>
        <p:nvSpPr>
          <p:cNvPr id="12" name="join-note">
            <a:extLst xmlns:a="http://schemas.openxmlformats.org/drawingml/2006/main">
              <a:ext uri="{FF2B5EF4-FFF2-40B4-BE49-F238E27FC236}">
                <a16:creationId xmlns:a16="http://schemas.microsoft.com/office/drawing/2014/main" id="{92D47B82-156C-48E7-A088-410F196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86050"/>
            <a:ext cx="31432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1F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B1FA2"/>
                </a:solidFill>
              </a:defRPr>
            </a:pPr>
            <a:r>
              <a:rPr sz="1275" b="1">
                <a:solidFill>
                  <a:srgbClr val="7B1FA2"/>
                </a:solidFill>
              </a:rPr>
              <a:t>Joined after content extraction</a:t>
            </a:r>
          </a:p>
        </p:txBody>
      </p: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714625" y="1962150"/>
            <a:ext cx="666750" cy="1562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14625" y="3524250"/>
            <a:ext cx="666750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14625" y="3524250"/>
            <a:ext cx="666750" cy="1552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53125" y="1962150"/>
            <a:ext cx="1524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A6D6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53125" y="38862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B1FA2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53125" y="50768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85D75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53125" y="29432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1FA2"/>
            </a:solidFill>
            <a:prstDash val="dash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9048750" y="2533650"/>
            <a:ext cx="3810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B1FA2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00094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2026-08-23T11:45:34.4990000Z</dcterms:created>
  <dcterms:modified xsi:type="dcterms:W3CDTF">2026-08-23T11:45:34.5000000Z</dcterms:modified>
</coreProperties>
</file>